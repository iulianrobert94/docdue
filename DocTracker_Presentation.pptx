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94960" y="137160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14173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Helvetica Neue"/>
              </a:defRPr>
            </a:pPr>
            <a:r>
              <a:t>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Helvetica Neue"/>
              </a:defRPr>
            </a:pPr>
            <a:r>
              <a:t>DocTracker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9319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A0A5"/>
                </a:solidFill>
                <a:latin typeface="Helvetica Neue"/>
              </a:defRPr>
            </a:pPr>
            <a:r>
              <a:t>Smart Document &amp; Expiration Tracking for iOS &amp; Android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475488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4773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E8E93"/>
                </a:solidFill>
                <a:latin typeface="Helvetica Neue"/>
              </a:defRPr>
            </a:pPr>
            <a:r>
              <a:t>Version 12.2  • 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7607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8E93"/>
                </a:solidFill>
                <a:latin typeface="Helvetica Neue"/>
              </a:defRPr>
            </a:pPr>
            <a:r>
              <a:t>Never miss a deadline. Track everything that expires.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E8E93"/>
                </a:solidFill>
                <a:latin typeface="Helvetica Neue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97280" cy="4572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92024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74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3B30"/>
                </a:solidFill>
                <a:latin typeface="Helvetica Neue"/>
              </a:defRPr>
            </a:pPr>
            <a:r>
              <a:t>Missed Deadlines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A5"/>
                </a:solidFill>
                <a:latin typeface="Helvetica Neue"/>
              </a:defRPr>
            </a:pPr>
            <a:r>
              <a:t>Expired car insurance, lapsed IDs, overdue bills — people forget critical document dates and face fines, penalties, or gaps in coverage.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212080" cy="192024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920240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74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500"/>
                </a:solidFill>
                <a:latin typeface="Helvetica Neue"/>
              </a:defRPr>
            </a:pPr>
            <a:r>
              <a:t>Scattered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3317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A5"/>
                </a:solidFill>
                <a:latin typeface="Helvetica Neue"/>
              </a:defRPr>
            </a:pPr>
            <a:r>
              <a:t>Documents tracked across paper folders, phone notes, email reminders, and mental notes. No single source of truth.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12080" cy="192024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4206240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60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F52DE"/>
                </a:solidFill>
                <a:latin typeface="Helvetica Neue"/>
              </a:defRPr>
            </a:pPr>
            <a:r>
              <a:t>No Smart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6177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A5"/>
                </a:solidFill>
                <a:latin typeface="Helvetica Neue"/>
              </a:defRPr>
            </a:pPr>
            <a:r>
              <a:t>Calendar reminders are manual and static. No automatic awareness of which documents are approaching expiration.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931920"/>
            <a:ext cx="5212080" cy="192024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4206240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160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FF"/>
                </a:solidFill>
                <a:latin typeface="Helvetica Neue"/>
              </a:defRPr>
            </a:pPr>
            <a:r>
              <a:t>Financial Surprises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6177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A5"/>
                </a:solidFill>
                <a:latin typeface="Helvetica Neue"/>
              </a:defRPr>
            </a:pPr>
            <a:r>
              <a:t>No visibility into upcoming payment obligations across insurance, utilities, subscriptions, and contracts.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E8E93"/>
                </a:solidFill>
                <a:latin typeface="Helvetica Neue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The Solution — DocTracker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011680" cy="4572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A0A5"/>
                </a:solidFill>
                <a:latin typeface="Helvetica Neue"/>
              </a:defRPr>
            </a:pPr>
            <a:r>
              <a:t>One app to track every document, contract, bill, and subscription that expires.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468880"/>
            <a:ext cx="548640" cy="54864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Helvetica Neue"/>
              </a:defRPr>
            </a:pPr>
            <a: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95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Centralized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614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All documents in one place — vehicle, personal, home, financial. Organized by category with smart subtypes.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3566160"/>
            <a:ext cx="548640" cy="54864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Helvetica Neue"/>
              </a:defRPr>
            </a:pPr>
            <a:r>
              <a:t>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4930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Intelligent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587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3-tier status system (OK → Due Soon → Expired) with customizable warning thresholds per category.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4663440"/>
            <a:ext cx="548640" cy="54864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17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Helvetica Neue"/>
              </a:defRPr>
            </a:pPr>
            <a:r>
              <a:t>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5902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Automatic Reminders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56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Push notifications at 9 AM, days before expiration. Configurable: 1, 3, 7, or 14 days ahead.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7784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5760720"/>
            <a:ext cx="548640" cy="548640"/>
          </a:xfrm>
          <a:prstGeom prst="ellipse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15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Helvetica Neue"/>
              </a:defRPr>
            </a:pPr>
            <a: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875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Offline &amp; Private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60533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100% local storage. Zero cloud dependency. Your data never leaves your device.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E8E93"/>
                </a:solidFill>
                <a:latin typeface="Helvetica Neue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Four Smart Categories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828800" cy="4572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97480" cy="484632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423160" cy="54864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AFF"/>
                </a:solidFill>
                <a:latin typeface="Helvetica Neue"/>
              </a:defRPr>
            </a:pPr>
            <a:r>
              <a:t>🚗  Vehicles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RCA (Car Insurance)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358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ITP (Inspection)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1129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CASCO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867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Road Tax / Vignette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622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Service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Tahograph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13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ADR 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554480"/>
            <a:ext cx="2697480" cy="484632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6160" y="1691640"/>
            <a:ext cx="2423160" cy="54864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9202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C759"/>
                </a:solidFill>
                <a:latin typeface="Helvetica Neue"/>
              </a:defRPr>
            </a:pPr>
            <a:r>
              <a:t>🏠  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560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Electricity, Gas, Water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0358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Internet &amp; Phone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51129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Rent Contracts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9867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Home Insurance (PAD)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4622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Subscriptions (Streaming, Cloud)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937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Property Tax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554480"/>
            <a:ext cx="2697480" cy="484632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46520" y="1691640"/>
            <a:ext cx="2423160" cy="54864"/>
          </a:xfrm>
          <a:prstGeom prst="roundRect">
            <a:avLst>
              <a:gd name="adj" fmla="val 50000"/>
            </a:avLst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9202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F52DE"/>
                </a:solidFill>
                <a:latin typeface="Helvetica Neue"/>
              </a:defRPr>
            </a:pPr>
            <a:r>
              <a:t>👤  Personal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560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National ID &amp; Passport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0358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Driver's License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51129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Medical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9867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Professional Certificates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4622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Employment Contracts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937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Life &amp; Health Insurance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1554480"/>
            <a:ext cx="2697480" cy="484632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26880" y="1691640"/>
            <a:ext cx="2423160" cy="54864"/>
          </a:xfrm>
          <a:prstGeom prst="roundRect">
            <a:avLst>
              <a:gd name="adj" fmla="val 50000"/>
            </a:avLst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19202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500"/>
                </a:solidFill>
                <a:latin typeface="Helvetica Neue"/>
              </a:defRPr>
            </a:pPr>
            <a:r>
              <a:t>💼  Financial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2560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Business Licenses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30358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Client Contracts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351129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Tax Declarations (ANAF)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39867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Credit Payments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44622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Leasing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4937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•  Fines &amp; Penalties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E8E93"/>
                </a:solidFill>
                <a:latin typeface="Helvetica Neue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0"/>
            </a:avLst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Core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463040" cy="45720"/>
          </a:xfrm>
          <a:prstGeom prst="roundRect">
            <a:avLst>
              <a:gd name="adj" fmla="val 50000"/>
            </a:avLst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Helvetica Neue"/>
              </a:defRPr>
            </a:pPr>
            <a:r>
              <a:t>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OCR Document Scanning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Point your camera at a document → ML Kit extracts dates, amounts, and document type automatically. Fill forms in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556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Helvetica Neue"/>
              </a:defRPr>
            </a:pPr>
            <a:r>
              <a:t>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8105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Smart 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231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Local push notifications at 9:00 AM, scheduled 1/3/7/14 days before expiration. Snooze or mark as renewed directly from the notification.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60" y="1783080"/>
            <a:ext cx="502920" cy="502920"/>
          </a:xfrm>
          <a:prstGeom prst="ellipse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7556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Helvetica Neue"/>
              </a:defRPr>
            </a:pPr>
            <a: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8105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Home Screen Widget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4231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At-a-glance view of expired and upcoming documents without opening the app. Shows next 3 deadlines with countdown.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2336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24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Helvetica Neue"/>
              </a:defRPr>
            </a:pPr>
            <a:r>
              <a:t>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279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Calendar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One-tap to add any document's due date to your device calendar. Works with Apple Calendar and Google Calendar.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02336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0" y="4251960"/>
            <a:ext cx="502920" cy="50292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224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Helvetica Neue"/>
              </a:defRPr>
            </a:pPr>
            <a: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4279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Recurrence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8920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Auto-advance due dates when marked as paid. Supports: monthly, quarterly, biannual, annual, and custom recurrence.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02336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66760" y="4251960"/>
            <a:ext cx="502920" cy="50292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4224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Helvetica Neue"/>
              </a:defRPr>
            </a:pPr>
            <a:r>
              <a:t>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279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Biometric Lock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8920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Secure your data with Face ID or fingerprint authentication. Optional app-level security for sensitive documents.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E8E93"/>
                </a:solidFill>
                <a:latin typeface="Helvetica Neue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0"/>
            </a:avLst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User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371600" cy="45720"/>
          </a:xfrm>
          <a:prstGeom prst="roundRect">
            <a:avLst>
              <a:gd name="adj" fmla="val 50000"/>
            </a:avLst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E8E93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286000"/>
            <a:ext cx="640080" cy="64008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860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Onboard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204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Choose categories</a:t>
            </a:r>
            <a:br/>
            <a:r>
              <a:t>you want to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E8E93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01168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2286000"/>
            <a:ext cx="640080" cy="64008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2860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Add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5204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Quick form or</a:t>
            </a:r>
            <a:br/>
            <a:r>
              <a:t>OCR scan photo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E8E93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01168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5000" y="2286000"/>
            <a:ext cx="640080" cy="64008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22860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Get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5204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Smart notifications</a:t>
            </a:r>
            <a:br/>
            <a:r>
              <a:t>before expiry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E8E93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01168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01000" y="2286000"/>
            <a:ext cx="640080" cy="640080"/>
          </a:xfrm>
          <a:prstGeom prst="ellipse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22860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Take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5204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Renew, pay, or</a:t>
            </a:r>
            <a:br/>
            <a:r>
              <a:t>extend documents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201168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87000" y="2286000"/>
            <a:ext cx="640080" cy="64008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22860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Stay Safe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204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Never miss a</a:t>
            </a:r>
            <a:br/>
            <a:r>
              <a:t>deadline again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02920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056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  <a:latin typeface="Helvetica Neue"/>
              </a:defRPr>
            </a:pPr>
            <a:r>
              <a:t>5-Tab Navigation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502920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0" y="5056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  <a:latin typeface="Helvetica Neue"/>
              </a:defRPr>
            </a:pPr>
            <a:r>
              <a:t>Pull-to-Refresh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502920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5056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  <a:latin typeface="Helvetica Neue"/>
              </a:defRPr>
            </a:pPr>
            <a:r>
              <a:t>Debounced Search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0" y="502920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5056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  <a:latin typeface="Helvetica Neue"/>
              </a:defRPr>
            </a:pPr>
            <a:r>
              <a:t>Multi-Filter System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0" y="502920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0" y="5056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  <a:latin typeface="Helvetica Neue"/>
              </a:defRPr>
            </a:pPr>
            <a:r>
              <a:t>Animated Transitions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E8E93"/>
                </a:solidFill>
                <a:latin typeface="Helvetica Neue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Intelligent Alert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011680" cy="4572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73152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3B30"/>
                </a:solidFill>
                <a:latin typeface="Helvetica Neue"/>
              </a:defRPr>
            </a:pPr>
            <a:r>
              <a:t>EXPIRED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Helvetica Neue"/>
              </a:defRPr>
            </a:pPr>
            <a:r>
              <a:t>Past due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Documents that have already expired and need immediate attention.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645920"/>
            <a:ext cx="3566160" cy="73152"/>
          </a:xfrm>
          <a:prstGeom prst="roundRect">
            <a:avLst>
              <a:gd name="adj" fmla="val 50000"/>
            </a:avLst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20" y="1965960"/>
            <a:ext cx="502920" cy="50292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938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500"/>
                </a:solidFill>
                <a:latin typeface="Helvetica Neue"/>
              </a:defRPr>
            </a:pPr>
            <a:r>
              <a:t>DUE SOON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Helvetica Neue"/>
              </a:defRPr>
            </a:pPr>
            <a:r>
              <a:t>Within warning threshold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697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Approaching expiration — configurable per category (default: 14 days).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6459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1645920"/>
            <a:ext cx="3566160" cy="73152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0" y="1965960"/>
            <a:ext cx="502920" cy="50292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938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C759"/>
                </a:solidFill>
                <a:latin typeface="Helvetica Neue"/>
              </a:defRPr>
            </a:pPr>
            <a:r>
              <a:t>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Helvetica Neue"/>
              </a:defRPr>
            </a:pPr>
            <a:r>
              <a:t>Not yet due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697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Documents that are current and not approaching their expiration date.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Notification Engine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251960"/>
            <a:ext cx="1463040" cy="36576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480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→  Scheduled at 9:00 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800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Respectful timing — alerts arrive during morning routine, not at midnight.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480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→  Configurable Lead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800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Choose reminder days: 1, 3, 7, or 14 days before expiration.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86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→  Quick 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806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"Renewed ✓" or "Tomorrow" snooze — respond directly from the notification.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486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→  Per-Category Thresholds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806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RCA needs 7 days notice, rent needs 14 days — fully customizable per category.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E8E93"/>
                </a:solidFill>
                <a:latin typeface="Helvetica Neue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0"/>
            </a:avLst>
          </a:prstGeom>
          <a:solidFill>
            <a:srgbClr val="00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828800" cy="45720"/>
          </a:xfrm>
          <a:prstGeom prst="roundRect">
            <a:avLst>
              <a:gd name="adj" fmla="val 50000"/>
            </a:avLst>
          </a:prstGeom>
          <a:solidFill>
            <a:srgbClr val="00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743200" cy="64008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AFF"/>
                </a:solidFill>
                <a:latin typeface="Helvetica Neue"/>
              </a:defRPr>
            </a:pPr>
            <a:r>
              <a:t>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React Native 0.81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Cross-platform native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Expo SDK 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Managed workflow + dev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Expo Router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File-based navigation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074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TypeScript 5.9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Full type safety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55448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83280" y="1554480"/>
            <a:ext cx="2743200" cy="64008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C759"/>
                </a:solidFill>
                <a:latin typeface="Helvetica Neue"/>
              </a:defRPr>
            </a:pPr>
            <a:r>
              <a:t>State &amp;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Zustand 5.0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Lightweight state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AsyncStorage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Offline-first 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JSON / Excel Backup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Import &amp; export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5074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Auto-Migration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Seamless version upgrades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155448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09360" y="1554480"/>
            <a:ext cx="2743200" cy="64008"/>
          </a:xfrm>
          <a:prstGeom prst="roundRect">
            <a:avLst>
              <a:gd name="adj" fmla="val 50000"/>
            </a:avLst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500"/>
                </a:solidFill>
                <a:latin typeface="Helvetica Neue"/>
              </a:defRPr>
            </a:pPr>
            <a:r>
              <a:t>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ML Kit OCR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On-device text recognition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Local Notifications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Scheduled push alerts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Expo Calendar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Device calendar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074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Expo Widgets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Home screen widgets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35440" y="155448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235440" y="1554480"/>
            <a:ext cx="2743200" cy="64008"/>
          </a:xfrm>
          <a:prstGeom prst="roundRect">
            <a:avLst>
              <a:gd name="adj" fmla="val 50000"/>
            </a:avLst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F52DE"/>
                </a:solidFill>
                <a:latin typeface="Helvetica Neue"/>
              </a:defRPr>
            </a:pPr>
            <a:r>
              <a:t>UX &amp;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Reanimated 4.1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60fps native animations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404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Haptic Feedback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Tactile UI interactions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6404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Face ID / Touch 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04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Biometric app lock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5074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Apple HIG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6404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iOS design compliance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E8E93"/>
                </a:solidFill>
                <a:latin typeface="Helvetica Neue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0"/>
            </a:avLst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Architecture &amp;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194560" cy="45720"/>
          </a:xfrm>
          <a:prstGeom prst="roundRect">
            <a:avLst>
              <a:gd name="adj" fmla="val 50000"/>
            </a:avLst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560320" cy="54864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AFF"/>
                </a:solidFill>
                <a:latin typeface="Helvetica Neue"/>
              </a:defRPr>
            </a:pPr>
            <a:r>
              <a:t>RawDocument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AsyncStorage</a:t>
            </a:r>
            <a:br/>
            <a:r>
              <a:t>(dt12_docs)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E8E93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45920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645920"/>
            <a:ext cx="2560320" cy="54864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C759"/>
                </a:solidFill>
                <a:latin typeface="Helvetica Neue"/>
              </a:defRPr>
            </a:pPr>
            <a:r>
              <a:t>enrichDocument()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402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Add _daysUntil</a:t>
            </a:r>
            <a:br/>
            <a:r>
              <a:t>&amp; _status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E8E93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645920"/>
            <a:ext cx="2560320" cy="54864"/>
          </a:xfrm>
          <a:prstGeom prst="roundRect">
            <a:avLst>
              <a:gd name="adj" fmla="val 50000"/>
            </a:avLst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500"/>
                </a:solidFill>
                <a:latin typeface="Helvetica Neue"/>
              </a:defRPr>
            </a:pPr>
            <a:r>
              <a:t>EnrichedDocument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2402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Runtime computed</a:t>
            </a:r>
            <a:br/>
            <a:r>
              <a:t>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E8E93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645920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35440" y="1645920"/>
            <a:ext cx="2560320" cy="54864"/>
          </a:xfrm>
          <a:prstGeom prst="roundRect">
            <a:avLst>
              <a:gd name="adj" fmla="val 50000"/>
            </a:avLst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F52DE"/>
                </a:solidFill>
                <a:latin typeface="Helvetica Neue"/>
              </a:defRPr>
            </a:pPr>
            <a:r>
              <a:t>UI Screens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2402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Consumed via</a:t>
            </a:r>
            <a:br/>
            <a:r>
              <a:t>hooks &amp; selectors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Key Architecture Decisions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840480"/>
            <a:ext cx="1828800" cy="36576"/>
          </a:xfrm>
          <a:prstGeom prst="roundRect">
            <a:avLst>
              <a:gd name="adj" fmla="val 50000"/>
            </a:avLst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14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▸  Offline-First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All data persisted locally via AsyncStorage. No server needed. Works without internet.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114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▸  Ephemeral Computed 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Status and countdown are calculated at runtime with _ prefix. Stripped before saving to prevent stale data.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74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▸  Auto-Persisting Stores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349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Every Zustand mutation automatically saves to AsyncStorage and reschedules notifications.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074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▸  Safe Date Handling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349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Custom parseLocalDate() prevents UTC timezone bugs. Never uses new Date("YYYY-MM-DD").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0350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▸  Two-Store Pattern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6309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Documents store (CRUD + enrichment) and Settings store (preferences + theme) — separated concerns.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0350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▸  Auto-Migration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6309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New settings fields merge automatically via spread pattern. No manual migration scripts needed.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E8E93"/>
                </a:solidFill>
                <a:latin typeface="Helvetica Neue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Bilingual UX &amp; Design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560320" cy="4572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AFF"/>
                </a:solidFill>
                <a:latin typeface="Helvetica Neue"/>
              </a:defRPr>
            </a:pPr>
            <a:r>
              <a:t>Romanian &amp; 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•  300+ translation keys with placeholder interpolation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•  Subtype-aware: "RCA" stays as-is; English shows "Car Insurance"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•  Fallback chain: requested language → Romanian → raw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•  All UI strings: navigation, forms, errors, confirmations, notifications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•  Custom i18n engine — no external library dependency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•  One-tap language switch in Settings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F52DE"/>
                </a:solidFill>
                <a:latin typeface="Helvetica Neue"/>
              </a:defRPr>
            </a:pPr>
            <a:r>
              <a:t>Apple HIG Design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▸  Dark &amp; Light Themes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3591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Pure black dark mode, grouped light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614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▸  Large Title Headers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017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Scroll-driven collapse into compact 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198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▸  Semantic Colors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6758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Apple system colors + status indicators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0782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▸  Native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3342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Segmented controls, grouped tables, 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7365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▸  Spring Animations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992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Scale 0.97 on press + bounce feedback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394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▸  Haptic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6509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Light, medium, selection — tactile 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69280"/>
            <a:ext cx="3566160" cy="73152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742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Helvetica Neue"/>
              </a:defRPr>
            </a:pPr>
            <a:r>
              <a:t>Dark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6035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Helvetica Neue"/>
              </a:defRPr>
            </a:pPr>
            <a:r>
              <a:t>#000000 bg, #1C1C1E cards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5669280"/>
            <a:ext cx="3566160" cy="7315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5742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Helvetica Neue"/>
              </a:defRPr>
            </a:pPr>
            <a:r>
              <a:t>Status Colors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6035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Helvetica Neue"/>
              </a:defRPr>
            </a:pPr>
            <a:r>
              <a:t>Red / Orange / Green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5669280"/>
            <a:ext cx="3566160" cy="7315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5742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Helvetica Neue"/>
              </a:defRPr>
            </a:pPr>
            <a:r>
              <a:t>Accent Blue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6035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Helvetica Neue"/>
              </a:defRPr>
            </a:pPr>
            <a:r>
              <a:t>#007AFF — primary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E8E93"/>
                </a:solidFill>
                <a:latin typeface="Helvetica Neue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0"/>
            </a:avLst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Business Model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194560" cy="45720"/>
          </a:xfrm>
          <a:prstGeom prst="roundRect">
            <a:avLst>
              <a:gd name="adj" fmla="val 50000"/>
            </a:avLst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657600" cy="347472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657600" cy="64008"/>
          </a:xfrm>
          <a:prstGeom prst="roundRect">
            <a:avLst>
              <a:gd name="adj" fmla="val 50000"/>
            </a:avLst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E8E93"/>
                </a:solidFill>
                <a:latin typeface="Helvetica Neue"/>
              </a:defRPr>
            </a:pPr>
            <a:r>
              <a:t>Free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✓  Up to 5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157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✓  All 4 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998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✓  Basic status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838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✓  Search &amp;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679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5"/>
                </a:solidFill>
                <a:latin typeface="Helvetica Neue"/>
              </a:defRPr>
            </a:pPr>
            <a:r>
              <a:t>✓  JSON backup/restore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1554480"/>
            <a:ext cx="3657600" cy="64008"/>
          </a:xfrm>
          <a:prstGeom prst="roundRect">
            <a:avLst>
              <a:gd name="adj" fmla="val 50000"/>
            </a:avLst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500"/>
                </a:solidFill>
                <a:latin typeface="Helvetica Neue"/>
              </a:defRPr>
            </a:pPr>
            <a:r>
              <a:t>Premium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Helvetica Neue"/>
              </a:defRPr>
            </a:pPr>
            <a:r>
              <a:t>✓  Unlimited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7157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Helvetica Neue"/>
              </a:defRPr>
            </a:pPr>
            <a:r>
              <a:t>✓  Push 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0998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Helvetica Neue"/>
              </a:defRPr>
            </a:pPr>
            <a:r>
              <a:t>✓  OCR document scanning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4838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Helvetica Neue"/>
              </a:defRPr>
            </a:pPr>
            <a:r>
              <a:t>✓  Spending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8679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Helvetica Neue"/>
              </a:defRPr>
            </a:pPr>
            <a:r>
              <a:t>✓  Excel import/export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Helvetica Neue"/>
              </a:defRPr>
            </a:pPr>
            <a:r>
              <a:t>✓  Home screen widgets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6360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Helvetica Neue"/>
              </a:defRPr>
            </a:pPr>
            <a:r>
              <a:t>✓  Priority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AFF"/>
                </a:solidFill>
                <a:latin typeface="Helvetica Neue"/>
              </a:defRPr>
            </a:pPr>
            <a:r>
              <a:t>Roadmap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1920240"/>
            <a:ext cx="914400" cy="36576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03920" y="2194560"/>
            <a:ext cx="320040" cy="32004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31936" y="2532888"/>
            <a:ext cx="54864" cy="82296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C759"/>
                </a:solidFill>
                <a:latin typeface="Helvetica Neue"/>
              </a:defRPr>
            </a:pPr>
            <a:r>
              <a:t>Q1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423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Core app launch</a:t>
            </a:r>
            <a:br/>
            <a:r>
              <a:t>iOS + Android</a:t>
            </a:r>
          </a:p>
        </p:txBody>
      </p:sp>
      <p:sp>
        <p:nvSpPr>
          <p:cNvPr id="29" name="Oval 28"/>
          <p:cNvSpPr/>
          <p:nvPr/>
        </p:nvSpPr>
        <p:spPr>
          <a:xfrm>
            <a:off x="8503920" y="3337560"/>
            <a:ext cx="320040" cy="32004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31936" y="3675888"/>
            <a:ext cx="54864" cy="82296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500"/>
                </a:solidFill>
                <a:latin typeface="Helvetica Neue"/>
              </a:defRPr>
            </a:pPr>
            <a:r>
              <a:t>Q2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566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Premium tier</a:t>
            </a:r>
            <a:br/>
            <a:r>
              <a:t>+ OCR scanning</a:t>
            </a:r>
          </a:p>
        </p:txBody>
      </p:sp>
      <p:sp>
        <p:nvSpPr>
          <p:cNvPr id="33" name="Oval 32"/>
          <p:cNvSpPr/>
          <p:nvPr/>
        </p:nvSpPr>
        <p:spPr>
          <a:xfrm>
            <a:off x="8503920" y="4480560"/>
            <a:ext cx="320040" cy="32004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631936" y="4818888"/>
            <a:ext cx="54864" cy="82296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FF"/>
                </a:solidFill>
                <a:latin typeface="Helvetica Neue"/>
              </a:defRPr>
            </a:pPr>
            <a:r>
              <a:t>Q3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709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Fleet management</a:t>
            </a:r>
            <a:br/>
            <a:r>
              <a:t>+ multi-user</a:t>
            </a:r>
          </a:p>
        </p:txBody>
      </p:sp>
      <p:sp>
        <p:nvSpPr>
          <p:cNvPr id="37" name="Oval 36"/>
          <p:cNvSpPr/>
          <p:nvPr/>
        </p:nvSpPr>
        <p:spPr>
          <a:xfrm>
            <a:off x="8503920" y="5623560"/>
            <a:ext cx="320040" cy="320040"/>
          </a:xfrm>
          <a:prstGeom prst="ellipse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F52DE"/>
                </a:solidFill>
                <a:latin typeface="Helvetica Neue"/>
              </a:defRPr>
            </a:pPr>
            <a:r>
              <a:t>Q4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5852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5"/>
                </a:solidFill>
                <a:latin typeface="Helvetica Neue"/>
              </a:defRPr>
            </a:pPr>
            <a:r>
              <a:t>Cloud sync</a:t>
            </a:r>
            <a:br/>
            <a:r>
              <a:t>+ web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E8E93"/>
                </a:solidFill>
                <a:latin typeface="Helvetica Neue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94960" y="118872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12344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Helvetica Neue"/>
              </a:defRPr>
            </a:pPr>
            <a:r>
              <a:t>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Helvetica Neue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657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A0A5"/>
                </a:solidFill>
                <a:latin typeface="Helvetica Neue"/>
              </a:defRPr>
            </a:pPr>
            <a:r>
              <a:t>DocTracker — Smart Document &amp; Expiration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57200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709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AFF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457200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4709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AFF"/>
                </a:solidFill>
                <a:latin typeface="Helvetica Neue"/>
              </a:defRPr>
            </a:pPr>
            <a:r>
              <a:t>50+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Document 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457200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4709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AFF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Languages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57200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4709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AFF"/>
                </a:solidFill>
                <a:latin typeface="Helvetica Neue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Offline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457200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4709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AFF"/>
                </a:solidFill>
                <a:latin typeface="Helvetica Neue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A5"/>
                </a:solidFill>
                <a:latin typeface="Helvetica Neue"/>
              </a:defRPr>
            </a:pPr>
            <a:r>
              <a:t>Cloud 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E8E93"/>
                </a:solidFill>
                <a:latin typeface="Helvetica Neue"/>
              </a:defRPr>
            </a:pPr>
            <a:r>
              <a:t>Questions &amp; Discussion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E8E93"/>
                </a:solidFill>
                <a:latin typeface="Helvetica Neue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